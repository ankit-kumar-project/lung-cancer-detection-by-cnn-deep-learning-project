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676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kaggle.com/datasets/hamdallak/the-iqothnccd-lung-cancer-datas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42997" y="296355"/>
            <a:ext cx="5857875" cy="124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kern="0" spc="1" dirty="0">
                <a:solidFill>
                  <a:srgbClr val="00D9FF"/>
                </a:solidFill>
              </a:rPr>
              <a:t>Lung Cancer Detection Using CNN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4571968" y="2052991"/>
            <a:ext cx="64" cy="2657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1943128" y="1280688"/>
            <a:ext cx="1961114" cy="2622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3200" b="1" dirty="0">
                <a:solidFill>
                  <a:schemeClr val="bg1">
                    <a:lumMod val="75000"/>
                  </a:schemeClr>
                </a:solidFill>
              </a:rPr>
              <a:t>Developer :</a:t>
            </a:r>
          </a:p>
        </p:txBody>
      </p:sp>
      <p:sp>
        <p:nvSpPr>
          <p:cNvPr id="6" name="Text 3"/>
          <p:cNvSpPr/>
          <p:nvPr/>
        </p:nvSpPr>
        <p:spPr>
          <a:xfrm>
            <a:off x="4118486" y="1270900"/>
            <a:ext cx="1797736" cy="2486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2800" dirty="0">
                <a:solidFill>
                  <a:schemeClr val="bg1"/>
                </a:solidFill>
              </a:rPr>
              <a:t>Ankit Kumar</a:t>
            </a:r>
          </a:p>
        </p:txBody>
      </p:sp>
      <p:sp>
        <p:nvSpPr>
          <p:cNvPr id="7" name="Text 4"/>
          <p:cNvSpPr/>
          <p:nvPr/>
        </p:nvSpPr>
        <p:spPr>
          <a:xfrm>
            <a:off x="535084" y="3318628"/>
            <a:ext cx="504946" cy="214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b="1" dirty="0">
                <a:solidFill>
                  <a:srgbClr val="00D9FF"/>
                </a:solidFill>
              </a:rPr>
              <a:t>Goal: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188310" y="3331096"/>
            <a:ext cx="3979786" cy="410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E8F4F8"/>
                </a:solidFill>
              </a:rPr>
              <a:t>Develop and deploy an accurate, automated system for early detection of lung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110209" y="3536281"/>
            <a:ext cx="2497222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dirty="0">
                <a:solidFill>
                  <a:srgbClr val="E8F4F8"/>
                </a:solidFill>
              </a:rPr>
              <a:t>nodules from CT scans using CNNs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5847" y="4015004"/>
            <a:ext cx="807913" cy="221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b="1" dirty="0">
                <a:solidFill>
                  <a:srgbClr val="00D9FF"/>
                </a:solidFill>
              </a:rPr>
              <a:t>Impact: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342997" y="4012222"/>
            <a:ext cx="2195216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dirty="0">
                <a:solidFill>
                  <a:srgbClr val="E8F4F8"/>
                </a:solidFill>
              </a:rPr>
              <a:t>Achieving early diagnosis with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87907" y="4001350"/>
            <a:ext cx="997902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6B9D"/>
                </a:solidFill>
              </a:rPr>
              <a:t>99% accuracy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471329" y="4236603"/>
            <a:ext cx="3100639" cy="20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dirty="0">
                <a:solidFill>
                  <a:srgbClr val="E8F4F8"/>
                </a:solidFill>
              </a:rPr>
              <a:t>to significantly improve patient prognosis</a:t>
            </a:r>
            <a:endParaRPr lang="en-US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1A64130-2C68-FE86-7C35-F7310B82BC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896" y="1738747"/>
            <a:ext cx="3031959" cy="303195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643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850106"/>
            <a:ext cx="9144000" cy="14288"/>
          </a:xfrm>
          <a:prstGeom prst="rect">
            <a:avLst/>
          </a:prstGeom>
          <a:solidFill>
            <a:srgbClr val="CCF7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4067267" cy="2917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b="1" kern="0" spc="1" dirty="0">
                <a:solidFill>
                  <a:srgbClr val="00D9FF"/>
                </a:solidFill>
              </a:rPr>
              <a:t>The Critical Need for Automated Diagnosis</a:t>
            </a: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4429125" y="1135856"/>
            <a:ext cx="7144" cy="3707606"/>
          </a:xfrm>
          <a:prstGeom prst="rect">
            <a:avLst/>
          </a:prstGeom>
          <a:solidFill>
            <a:srgbClr val="00D9F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28625" y="1135856"/>
            <a:ext cx="1561902" cy="1887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b="1" kern="0" spc="1" dirty="0">
                <a:solidFill>
                  <a:srgbClr val="FF6B9D"/>
                </a:solidFill>
              </a:rPr>
              <a:t>Medical Challenge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7523" y="1437680"/>
            <a:ext cx="4000500" cy="804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E8F4F8"/>
                </a:solidFill>
              </a:rPr>
              <a:t>Lung cancer is the </a:t>
            </a:r>
            <a:r>
              <a:rPr lang="en-US" sz="1050" b="1" dirty="0">
                <a:solidFill>
                  <a:srgbClr val="FF6B9D"/>
                </a:solidFill>
              </a:rPr>
              <a:t>leading cause of cancer-related deaths</a:t>
            </a:r>
            <a:r>
              <a:rPr lang="en-US" sz="1050" dirty="0">
                <a:solidFill>
                  <a:srgbClr val="E8F4F8"/>
                </a:solidFill>
              </a:rPr>
              <a:t> globally. Early detection is crucial for improved patient outcomes, yet manual analysis of high-volume CT scans remains a significant bottleneck in clinical workflows.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28625" y="2346275"/>
            <a:ext cx="4000500" cy="394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E8F4F8"/>
                </a:solidFill>
              </a:rPr>
              <a:t>Radiologists must review thousands of images daily, leading to fatigue-induced errors and inconsistent diagnostic quality.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28625" y="2972023"/>
            <a:ext cx="1921616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kern="0" spc="1" dirty="0">
                <a:solidFill>
                  <a:srgbClr val="FF6B9D"/>
                </a:solidFill>
              </a:rPr>
              <a:t>Why Automation Matters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28625" y="3273847"/>
            <a:ext cx="4000500" cy="394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00D9FF"/>
                </a:solidFill>
              </a:rPr>
              <a:t>Consistency:</a:t>
            </a:r>
            <a:r>
              <a:rPr lang="en-US" sz="1050" dirty="0">
                <a:solidFill>
                  <a:srgbClr val="E8F4F8"/>
                </a:solidFill>
              </a:rPr>
              <a:t> AI systems provide uniform analysis without fatigue or subjective bias.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28625" y="3771007"/>
            <a:ext cx="4000500" cy="394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00D9FF"/>
                </a:solidFill>
              </a:rPr>
              <a:t>Speed:</a:t>
            </a:r>
            <a:r>
              <a:rPr lang="en-US" sz="1050" dirty="0">
                <a:solidFill>
                  <a:srgbClr val="E8F4F8"/>
                </a:solidFill>
              </a:rPr>
              <a:t> Automated screening reduces diagnostic time from hours to seconds.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28625" y="4268167"/>
            <a:ext cx="4000500" cy="394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00D9FF"/>
                </a:solidFill>
              </a:rPr>
              <a:t>Expertise:</a:t>
            </a:r>
            <a:r>
              <a:rPr lang="en-US" sz="1050" dirty="0">
                <a:solidFill>
                  <a:srgbClr val="E8F4F8"/>
                </a:solidFill>
              </a:rPr>
              <a:t> Serves as a reliable second opinion, augmenting radiologist capabilities.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714875" y="1135856"/>
            <a:ext cx="1135247" cy="182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b="1" kern="0" spc="1" dirty="0">
                <a:solidFill>
                  <a:srgbClr val="FF6B9D"/>
                </a:solidFill>
              </a:rPr>
              <a:t>Dataset Details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43463" y="1509117"/>
            <a:ext cx="395942" cy="187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7B68EE"/>
                </a:solidFill>
              </a:rPr>
              <a:t>Source: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57838" y="1509117"/>
            <a:ext cx="3157538" cy="594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000" dirty="0">
                <a:solidFill>
                  <a:srgbClr val="E8F4F8"/>
                </a:solidFill>
              </a:rPr>
              <a:t>Kaggle Database API : https://www.kaggle.com/datasets/hamdallak/the-iqothnccd-lung-cancer-dataset/data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43463" y="2149153"/>
            <a:ext cx="243656" cy="187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7B68EE"/>
                </a:solidFill>
              </a:rPr>
              <a:t>Size: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557838" y="2149153"/>
            <a:ext cx="2460610" cy="187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8F4F8"/>
                </a:solidFill>
              </a:rPr>
              <a:t>1,000+ CT scan studies with expert annotations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43463" y="2583470"/>
            <a:ext cx="419987" cy="187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7B68EE"/>
                </a:solidFill>
              </a:rPr>
              <a:t>Format: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557838" y="2583470"/>
            <a:ext cx="2878993" cy="187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8F4F8"/>
                </a:solidFill>
              </a:rPr>
              <a:t>128 * 128 pixels patches centered on potential nodules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843463" y="3017788"/>
            <a:ext cx="368691" cy="187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7B68EE"/>
                </a:solidFill>
              </a:rPr>
              <a:t>Labels: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557838" y="3017788"/>
            <a:ext cx="1460336" cy="187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8F4F8"/>
                </a:solidFill>
              </a:rPr>
              <a:t>Malignant / Benign/ Normal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714875" y="3509256"/>
            <a:ext cx="4000500" cy="1204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81EC88D-730D-DB8D-10EB-2EFAA20EB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291" y="3313668"/>
            <a:ext cx="3778275" cy="16883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8356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929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778669"/>
            <a:ext cx="9144000" cy="14288"/>
          </a:xfrm>
          <a:prstGeom prst="rect">
            <a:avLst/>
          </a:prstGeom>
          <a:solidFill>
            <a:srgbClr val="CCF7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2729658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kern="0" spc="1" dirty="0">
                <a:solidFill>
                  <a:srgbClr val="00D9FF"/>
                </a:solidFill>
              </a:rPr>
              <a:t>Custom CNN Architecture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28625" y="992981"/>
            <a:ext cx="4036219" cy="568626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428625" y="992981"/>
            <a:ext cx="21431" cy="568626"/>
          </a:xfrm>
          <a:prstGeom prst="rect">
            <a:avLst/>
          </a:prstGeom>
          <a:solidFill>
            <a:srgbClr val="7B68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35781" y="1100138"/>
            <a:ext cx="941540" cy="1204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00" b="1" kern="0" spc="1" dirty="0">
                <a:solidFill>
                  <a:srgbClr val="7B68EE"/>
                </a:solidFill>
              </a:rPr>
              <a:t>Base Architecture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35781" y="1271588"/>
            <a:ext cx="3063339" cy="168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E8F4F8"/>
                </a:solidFill>
              </a:rPr>
              <a:t>CNN 3 inner layer of relu function and SoftMax for Output 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28625" y="1918795"/>
            <a:ext cx="101662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kern="0" spc="1" dirty="0">
                <a:solidFill>
                  <a:srgbClr val="FF6B9D"/>
                </a:solidFill>
              </a:rPr>
              <a:t>Layer Breakdown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67096" y="2250380"/>
            <a:ext cx="335028" cy="1317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b="1" dirty="0">
                <a:solidFill>
                  <a:srgbClr val="00D9FF"/>
                </a:solidFill>
              </a:rPr>
              <a:t>Input: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299580" y="2215371"/>
            <a:ext cx="2111155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dirty="0">
                <a:solidFill>
                  <a:srgbClr val="E8F4F8"/>
                </a:solidFill>
              </a:rPr>
              <a:t>128×128×1 (grayscale CT scan patch)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0056" y="2603995"/>
            <a:ext cx="746999" cy="1317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b="1" dirty="0">
                <a:solidFill>
                  <a:srgbClr val="00D9FF"/>
                </a:solidFill>
              </a:rPr>
              <a:t>Conv Block 1: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299580" y="2575141"/>
            <a:ext cx="2056653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E8F4F8"/>
                </a:solidFill>
              </a:rPr>
              <a:t>32 filters (3,3)→ ReLU → Max Pooling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28625" y="2943923"/>
            <a:ext cx="746999" cy="1317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b="1" dirty="0">
                <a:solidFill>
                  <a:srgbClr val="00D9FF"/>
                </a:solidFill>
              </a:rPr>
              <a:t>Conv Block 2: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285875" y="2943923"/>
            <a:ext cx="2056653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E8F4F8"/>
                </a:solidFill>
              </a:rPr>
              <a:t>64 filters (3,3)→ ReLU → Max Pooling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28625" y="3297538"/>
            <a:ext cx="746999" cy="1317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b="1" dirty="0">
                <a:solidFill>
                  <a:srgbClr val="00D9FF"/>
                </a:solidFill>
              </a:rPr>
              <a:t>Conv Block 3: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285875" y="3297538"/>
            <a:ext cx="2156039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E8F4F8"/>
                </a:solidFill>
              </a:rPr>
              <a:t>128 filters (3,3) → ReLU → Max Pooling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28625" y="3651154"/>
            <a:ext cx="65" cy="1317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234181" y="3631508"/>
            <a:ext cx="65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28625" y="4233370"/>
            <a:ext cx="403621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FF6B9D"/>
                </a:solidFill>
              </a:rPr>
              <a:t>Classification Head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428625" y="4551266"/>
            <a:ext cx="431208" cy="1317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b="1" dirty="0">
                <a:solidFill>
                  <a:srgbClr val="00D9FF"/>
                </a:solidFill>
              </a:rPr>
              <a:t>Flatten: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285875" y="4551266"/>
            <a:ext cx="1559722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E8F4F8"/>
                </a:solidFill>
              </a:rPr>
              <a:t>Flatten convolutional output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28625" y="4904882"/>
            <a:ext cx="482504" cy="1317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b="1" dirty="0">
                <a:solidFill>
                  <a:srgbClr val="00D9FF"/>
                </a:solidFill>
              </a:rPr>
              <a:t>Dense 1: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285875" y="4904882"/>
            <a:ext cx="1662315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E8F4F8"/>
                </a:solidFill>
              </a:rPr>
              <a:t>512 units with ReLU activation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28625" y="5258498"/>
            <a:ext cx="437620" cy="1317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50" b="1" dirty="0">
                <a:solidFill>
                  <a:srgbClr val="00D9FF"/>
                </a:solidFill>
              </a:rPr>
              <a:t>Output: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1285875" y="5258498"/>
            <a:ext cx="2213748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E8F4F8"/>
                </a:solidFill>
              </a:rPr>
              <a:t>2 units with Softmax (Malignant/Benign)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4679156" y="4175687"/>
            <a:ext cx="4081245" cy="122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050" i="1" dirty="0">
                <a:solidFill>
                  <a:srgbClr val="E8F4F8"/>
                </a:solidFill>
              </a:rPr>
              <a:t>Architecture Flow: Input → Convolutional Blocks → Classification → Output</a:t>
            </a:r>
            <a:endParaRPr lang="en-US" sz="10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E615C95-97B9-ED4D-A7E0-C977E0392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095" y="1121705"/>
            <a:ext cx="4360306" cy="29068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5607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215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707231"/>
            <a:ext cx="9144000" cy="14288"/>
          </a:xfrm>
          <a:prstGeom prst="rect">
            <a:avLst/>
          </a:prstGeom>
          <a:solidFill>
            <a:srgbClr val="CCF7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28625" y="214313"/>
            <a:ext cx="82867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kern="0" spc="1" dirty="0">
                <a:solidFill>
                  <a:srgbClr val="00D9FF"/>
                </a:solidFill>
              </a:rPr>
              <a:t>Robust Training Yields High Diagnostic Performance</a:t>
            </a:r>
            <a:endParaRPr lang="en-US" sz="1808" dirty="0"/>
          </a:p>
        </p:txBody>
      </p:sp>
      <p:sp>
        <p:nvSpPr>
          <p:cNvPr id="6" name="Shape 3"/>
          <p:cNvSpPr/>
          <p:nvPr/>
        </p:nvSpPr>
        <p:spPr>
          <a:xfrm>
            <a:off x="428625" y="885825"/>
            <a:ext cx="4036219" cy="569714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428625" y="885825"/>
            <a:ext cx="21431" cy="569714"/>
          </a:xfrm>
          <a:prstGeom prst="rect">
            <a:avLst/>
          </a:prstGeom>
          <a:solidFill>
            <a:srgbClr val="7B68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35781" y="992981"/>
            <a:ext cx="584647" cy="1238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b="1" kern="0" spc="1" dirty="0">
                <a:solidFill>
                  <a:srgbClr val="7B68EE"/>
                </a:solidFill>
              </a:rPr>
              <a:t>Optimizer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35781" y="1176933"/>
            <a:ext cx="320601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E8F4F8"/>
                </a:solidFill>
              </a:rPr>
              <a:t>Adam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79156" y="885825"/>
            <a:ext cx="4036219" cy="569714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679156" y="885825"/>
            <a:ext cx="21431" cy="569714"/>
          </a:xfrm>
          <a:prstGeom prst="rect">
            <a:avLst/>
          </a:prstGeom>
          <a:solidFill>
            <a:srgbClr val="7B68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786313" y="992981"/>
            <a:ext cx="867289" cy="1272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200" b="1" kern="0" spc="1" dirty="0">
                <a:solidFill>
                  <a:srgbClr val="7B68EE"/>
                </a:solidFill>
              </a:rPr>
              <a:t>Loss Function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86313" y="1176933"/>
            <a:ext cx="1814599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E8F4F8"/>
                </a:solidFill>
              </a:rPr>
              <a:t>Sparse</a:t>
            </a:r>
            <a:r>
              <a:rPr lang="en-US" sz="1050" dirty="0">
                <a:solidFill>
                  <a:srgbClr val="E8F4F8"/>
                </a:solidFill>
              </a:rPr>
              <a:t>_categorical_crossentropy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8625" y="1669852"/>
            <a:ext cx="4036219" cy="569714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Shape 12"/>
          <p:cNvSpPr/>
          <p:nvPr/>
        </p:nvSpPr>
        <p:spPr>
          <a:xfrm>
            <a:off x="428625" y="1669852"/>
            <a:ext cx="21431" cy="569714"/>
          </a:xfrm>
          <a:prstGeom prst="rect">
            <a:avLst/>
          </a:prstGeom>
          <a:solidFill>
            <a:srgbClr val="7B68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35781" y="1777008"/>
            <a:ext cx="922047" cy="1238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b="1" kern="0" spc="1" dirty="0">
                <a:solidFill>
                  <a:srgbClr val="7B68EE"/>
                </a:solidFill>
              </a:rPr>
              <a:t>Training Epochs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5781" y="1960959"/>
            <a:ext cx="1303242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E8F4F8"/>
                </a:solidFill>
              </a:rPr>
              <a:t>30 (with Early Stopping)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679156" y="1669852"/>
            <a:ext cx="4036219" cy="569714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4679156" y="1669852"/>
            <a:ext cx="21431" cy="569714"/>
          </a:xfrm>
          <a:prstGeom prst="rect">
            <a:avLst/>
          </a:prstGeom>
          <a:solidFill>
            <a:srgbClr val="7B68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786313" y="1777008"/>
            <a:ext cx="444930" cy="1238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100" b="1" kern="0" spc="1" dirty="0">
                <a:solidFill>
                  <a:srgbClr val="7B68EE"/>
                </a:solidFill>
              </a:rPr>
              <a:t>Metrics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86313" y="1960959"/>
            <a:ext cx="493725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E8F4F8"/>
                </a:solidFill>
              </a:rPr>
              <a:t>Accuracy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874645" y="2557701"/>
            <a:ext cx="2251770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kern="0" spc="1" dirty="0">
                <a:solidFill>
                  <a:srgbClr val="FF6B9D"/>
                </a:solidFill>
              </a:rPr>
              <a:t>Key Performance Metrics (Test Set)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036445" y="3001328"/>
            <a:ext cx="1991320" cy="664369"/>
          </a:xfrm>
          <a:prstGeom prst="rect">
            <a:avLst/>
          </a:prstGeom>
          <a:solidFill>
            <a:srgbClr val="FF6B9D">
              <a:alpha val="8000"/>
            </a:srgbClr>
          </a:solidFill>
          <a:ln w="9144">
            <a:solidFill>
              <a:srgbClr val="FF6B9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2875811" y="3108484"/>
            <a:ext cx="312586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6B9D"/>
                </a:solidFill>
              </a:rPr>
              <a:t>99%</a:t>
            </a:r>
            <a:endParaRPr lang="en-US" sz="1397" dirty="0"/>
          </a:p>
        </p:txBody>
      </p:sp>
      <p:sp>
        <p:nvSpPr>
          <p:cNvPr id="25" name="Text 22"/>
          <p:cNvSpPr/>
          <p:nvPr/>
        </p:nvSpPr>
        <p:spPr>
          <a:xfrm>
            <a:off x="2782036" y="3417451"/>
            <a:ext cx="500138" cy="122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050" b="1" dirty="0">
                <a:solidFill>
                  <a:srgbClr val="E8F4F8"/>
                </a:solidFill>
              </a:rPr>
              <a:t>Accuracy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705610" y="3108484"/>
            <a:ext cx="64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endParaRPr lang="en-US" sz="1397" dirty="0"/>
          </a:p>
        </p:txBody>
      </p:sp>
      <p:sp>
        <p:nvSpPr>
          <p:cNvPr id="28" name="Text 25"/>
          <p:cNvSpPr/>
          <p:nvPr/>
        </p:nvSpPr>
        <p:spPr>
          <a:xfrm>
            <a:off x="3705610" y="3417451"/>
            <a:ext cx="64" cy="1080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endParaRPr lang="en-US" sz="634" dirty="0"/>
          </a:p>
        </p:txBody>
      </p:sp>
      <p:sp>
        <p:nvSpPr>
          <p:cNvPr id="30" name="Text 27"/>
          <p:cNvSpPr/>
          <p:nvPr/>
        </p:nvSpPr>
        <p:spPr>
          <a:xfrm>
            <a:off x="5804086" y="3108484"/>
            <a:ext cx="64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endParaRPr lang="en-US" sz="1397" dirty="0"/>
          </a:p>
        </p:txBody>
      </p:sp>
      <p:sp>
        <p:nvSpPr>
          <p:cNvPr id="31" name="Text 28"/>
          <p:cNvSpPr/>
          <p:nvPr/>
        </p:nvSpPr>
        <p:spPr>
          <a:xfrm>
            <a:off x="5804086" y="3417451"/>
            <a:ext cx="64" cy="1080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endParaRPr lang="en-US" sz="634" dirty="0"/>
          </a:p>
        </p:txBody>
      </p:sp>
      <p:sp>
        <p:nvSpPr>
          <p:cNvPr id="32" name="Shape 29"/>
          <p:cNvSpPr/>
          <p:nvPr/>
        </p:nvSpPr>
        <p:spPr>
          <a:xfrm>
            <a:off x="4590455" y="3001328"/>
            <a:ext cx="1991320" cy="664369"/>
          </a:xfrm>
          <a:prstGeom prst="rect">
            <a:avLst/>
          </a:prstGeom>
          <a:solidFill>
            <a:srgbClr val="FF6B9D">
              <a:alpha val="8000"/>
            </a:srgbClr>
          </a:solidFill>
          <a:ln w="9144">
            <a:solidFill>
              <a:srgbClr val="FF6B9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3" name="Text 30"/>
          <p:cNvSpPr/>
          <p:nvPr/>
        </p:nvSpPr>
        <p:spPr>
          <a:xfrm>
            <a:off x="5268719" y="3108484"/>
            <a:ext cx="634790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6B9D"/>
                </a:solidFill>
              </a:rPr>
              <a:t>0.0027%</a:t>
            </a:r>
            <a:endParaRPr lang="en-US" sz="1397" dirty="0"/>
          </a:p>
        </p:txBody>
      </p:sp>
      <p:sp>
        <p:nvSpPr>
          <p:cNvPr id="34" name="Text 31"/>
          <p:cNvSpPr/>
          <p:nvPr/>
        </p:nvSpPr>
        <p:spPr>
          <a:xfrm>
            <a:off x="5207809" y="3417451"/>
            <a:ext cx="756618" cy="122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1050" b="1" dirty="0">
                <a:solidFill>
                  <a:srgbClr val="E8F4F8"/>
                </a:solidFill>
              </a:rPr>
              <a:t>Loss Function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853565" y="3543300"/>
            <a:ext cx="65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885" dirty="0"/>
          </a:p>
        </p:txBody>
      </p:sp>
      <p:sp>
        <p:nvSpPr>
          <p:cNvPr id="38" name="Text 34"/>
          <p:cNvSpPr/>
          <p:nvPr/>
        </p:nvSpPr>
        <p:spPr>
          <a:xfrm>
            <a:off x="2464547" y="5432822"/>
            <a:ext cx="65" cy="979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endParaRPr lang="en-US" sz="621" dirty="0"/>
          </a:p>
        </p:txBody>
      </p:sp>
      <p:sp>
        <p:nvSpPr>
          <p:cNvPr id="41" name="Text 36"/>
          <p:cNvSpPr/>
          <p:nvPr/>
        </p:nvSpPr>
        <p:spPr>
          <a:xfrm>
            <a:off x="6661773" y="5432822"/>
            <a:ext cx="35266" cy="979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i="1" dirty="0">
                <a:solidFill>
                  <a:srgbClr val="E8F4F8"/>
                </a:solidFill>
              </a:rPr>
              <a:t>x</a:t>
            </a:r>
            <a:endParaRPr lang="en-US" sz="62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468EF35-5843-C2CC-1984-B8CAE4580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560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19FCA2-686E-1725-F73C-93D13F07A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142" y="169128"/>
            <a:ext cx="4404731" cy="54178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879704-37CD-9599-0B12-23E82A42D399}"/>
              </a:ext>
            </a:extLst>
          </p:cNvPr>
          <p:cNvSpPr/>
          <p:nvPr/>
        </p:nvSpPr>
        <p:spPr>
          <a:xfrm>
            <a:off x="1" y="1647765"/>
            <a:ext cx="352044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Training Model</a:t>
            </a:r>
          </a:p>
        </p:txBody>
      </p:sp>
    </p:spTree>
    <p:extLst>
      <p:ext uri="{BB962C8B-B14F-4D97-AF65-F5344CB8AC3E}">
        <p14:creationId xmlns:p14="http://schemas.microsoft.com/office/powerpoint/2010/main" val="502749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572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742950"/>
            <a:ext cx="9144000" cy="14288"/>
          </a:xfrm>
          <a:prstGeom prst="rect">
            <a:avLst/>
          </a:prstGeom>
          <a:solidFill>
            <a:srgbClr val="CCF7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28625" y="250031"/>
            <a:ext cx="4345933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kern="0" spc="1" dirty="0">
                <a:solidFill>
                  <a:srgbClr val="00D9FF"/>
                </a:solidFill>
              </a:rPr>
              <a:t>Web Interface for Lung Cancer Detection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429125" y="957263"/>
            <a:ext cx="7144" cy="3957638"/>
          </a:xfrm>
          <a:prstGeom prst="rect">
            <a:avLst/>
          </a:prstGeom>
          <a:solidFill>
            <a:srgbClr val="00D9FF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87906" y="1096793"/>
            <a:ext cx="621645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kern="0" spc="1" dirty="0">
                <a:solidFill>
                  <a:srgbClr val="FF6B9D"/>
                </a:solidFill>
              </a:rPr>
              <a:t>Tech Stack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42088" y="1313837"/>
            <a:ext cx="485710" cy="158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7B68EE"/>
                </a:solidFill>
              </a:rPr>
              <a:t>Backend: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84456" y="1318763"/>
            <a:ext cx="1809791" cy="158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8F4F8"/>
                </a:solidFill>
              </a:rPr>
              <a:t>Python Flask (model serving &amp; API)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36637" y="1557290"/>
            <a:ext cx="524182" cy="158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7B68EE"/>
                </a:solidFill>
              </a:rPr>
              <a:t>Frontend: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84456" y="1566267"/>
            <a:ext cx="1266372" cy="158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8F4F8"/>
                </a:solidFill>
              </a:rPr>
              <a:t>HTML5, CSS3, JavaScript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50352" y="1806175"/>
            <a:ext cx="395942" cy="158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7B68EE"/>
                </a:solidFill>
              </a:rPr>
              <a:t>Styling: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71632" y="1801328"/>
            <a:ext cx="860813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E8F4F8"/>
                </a:solidFill>
              </a:rPr>
              <a:t>Only vanilla CSS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39158" y="2042849"/>
            <a:ext cx="442429" cy="158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7B68EE"/>
                </a:solidFill>
              </a:rPr>
              <a:t>Hosting: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71632" y="2055155"/>
            <a:ext cx="904094" cy="158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8F4F8"/>
                </a:solidFill>
              </a:rPr>
              <a:t>Render (Planned)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42030" y="2496164"/>
            <a:ext cx="75334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kern="0" spc="1" dirty="0">
                <a:solidFill>
                  <a:srgbClr val="FF6B9D"/>
                </a:solidFill>
              </a:rPr>
              <a:t>Key Features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48222" y="2745301"/>
            <a:ext cx="419987" cy="158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D9FF"/>
                </a:solidFill>
              </a:rPr>
              <a:t>Upload: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62597" y="2745301"/>
            <a:ext cx="1468351" cy="158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8F4F8"/>
                </a:solidFill>
              </a:rPr>
              <a:t>Single-slice CT image upload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55802" y="3043745"/>
            <a:ext cx="581891" cy="158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D9FF"/>
                </a:solidFill>
              </a:rPr>
              <a:t>Prediction: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62597" y="3043745"/>
            <a:ext cx="1707199" cy="158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8F4F8"/>
                </a:solidFill>
              </a:rPr>
              <a:t>Real-time inference (&lt;2 seconds)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255802" y="3320880"/>
            <a:ext cx="511358" cy="158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D9FF"/>
                </a:solidFill>
              </a:rPr>
              <a:t>Interface: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62597" y="3294873"/>
            <a:ext cx="1534074" cy="158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E8F4F8"/>
                </a:solidFill>
              </a:rPr>
              <a:t>User-friendly, intuitive design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14875" y="1064419"/>
            <a:ext cx="4000500" cy="680442"/>
          </a:xfrm>
          <a:prstGeom prst="rect">
            <a:avLst/>
          </a:prstGeom>
          <a:solidFill>
            <a:srgbClr val="00D9FF">
              <a:alpha val="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4714875" y="1064419"/>
            <a:ext cx="21431" cy="680442"/>
          </a:xfrm>
          <a:prstGeom prst="rect">
            <a:avLst/>
          </a:prstGeom>
          <a:solidFill>
            <a:srgbClr val="7B68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800600" y="1150144"/>
            <a:ext cx="1480918" cy="1141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1100" b="1" kern="0" spc="1" dirty="0">
                <a:solidFill>
                  <a:srgbClr val="7B68EE"/>
                </a:solidFill>
              </a:rPr>
              <a:t>Final Model Performance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800600" y="1301948"/>
            <a:ext cx="224420" cy="1685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FF6B9D"/>
                </a:solidFill>
              </a:rPr>
              <a:t>99%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800600" y="1532334"/>
            <a:ext cx="1237518" cy="122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1050" dirty="0">
                <a:solidFill>
                  <a:srgbClr val="E8F4F8"/>
                </a:solidFill>
              </a:rPr>
              <a:t>Classification Accuracy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714875" y="1852017"/>
            <a:ext cx="716350" cy="1560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kern="0" spc="1" dirty="0">
                <a:solidFill>
                  <a:srgbClr val="FF6B9D"/>
                </a:solidFill>
              </a:rPr>
              <a:t>Limitations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714875" y="2155627"/>
            <a:ext cx="110608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6B9D"/>
                </a:solidFill>
              </a:rPr>
              <a:t>1.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893469" y="2155627"/>
            <a:ext cx="3821906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FF6B9D"/>
                </a:solidFill>
              </a:rPr>
              <a:t>2D-only analysis:</a:t>
            </a:r>
            <a:r>
              <a:rPr lang="en-US" sz="1100" dirty="0">
                <a:solidFill>
                  <a:srgbClr val="E8F4F8"/>
                </a:solidFill>
              </a:rPr>
              <a:t> Trained only on 2D </a:t>
            </a:r>
            <a:r>
              <a:rPr lang="en-US" sz="1100" dirty="0" err="1">
                <a:solidFill>
                  <a:srgbClr val="E8F4F8"/>
                </a:solidFill>
              </a:rPr>
              <a:t>imagesas</a:t>
            </a:r>
            <a:r>
              <a:rPr lang="en-US" sz="1100" dirty="0">
                <a:solidFill>
                  <a:srgbClr val="E8F4F8"/>
                </a:solidFill>
              </a:rPr>
              <a:t> model only train on 2D Model.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714875" y="2598539"/>
            <a:ext cx="110608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6B9D"/>
                </a:solidFill>
              </a:rPr>
              <a:t>2.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893469" y="2598539"/>
            <a:ext cx="3821906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6B9D"/>
                </a:solidFill>
              </a:rPr>
              <a:t>Dataset-specific:</a:t>
            </a:r>
            <a:r>
              <a:rPr lang="en-US" sz="1050" dirty="0">
                <a:solidFill>
                  <a:srgbClr val="E8F4F8"/>
                </a:solidFill>
              </a:rPr>
              <a:t> Only train on Kaggle dataset still not use in real scans.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714875" y="3084314"/>
            <a:ext cx="127682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kern="0" spc="1" dirty="0">
                <a:solidFill>
                  <a:srgbClr val="FF6B9D"/>
                </a:solidFill>
              </a:rPr>
              <a:t>Future Improvements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714875" y="3387923"/>
            <a:ext cx="104196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6B9D"/>
                </a:solidFill>
              </a:rPr>
              <a:t>1.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893469" y="3387923"/>
            <a:ext cx="3821906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00D9FF"/>
                </a:solidFill>
              </a:rPr>
              <a:t>3D CNN integration:</a:t>
            </a:r>
            <a:r>
              <a:rPr lang="en-US" sz="1100" dirty="0">
                <a:solidFill>
                  <a:srgbClr val="E8F4F8"/>
                </a:solidFill>
              </a:rPr>
              <a:t> Implement volumetric analysis for comprehensive spatial understanding of nodule characteristics.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714875" y="3830836"/>
            <a:ext cx="104196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6B9D"/>
                </a:solidFill>
              </a:rPr>
              <a:t>2.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893469" y="3830836"/>
            <a:ext cx="3821906" cy="307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00D9FF"/>
                </a:solidFill>
              </a:rPr>
              <a:t>Multi-source datasets:</a:t>
            </a:r>
            <a:r>
              <a:rPr lang="en-US" sz="1100" dirty="0">
                <a:solidFill>
                  <a:srgbClr val="E8F4F8"/>
                </a:solidFill>
              </a:rPr>
              <a:t> Expand training with diverse imaging sources to improve robustness and clinical applicability.</a:t>
            </a:r>
            <a:endParaRPr lang="en-US" sz="11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F367D10-C6A5-D1E3-2822-3A6C2A422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3" y="2640449"/>
            <a:ext cx="395615" cy="2274452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194C1EB-0431-0F0B-04E6-BB882D703B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3002" y="3160154"/>
            <a:ext cx="1357092" cy="17680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2F9FCEF8-C35B-4582-D64B-D05AE091C4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3674" y="996413"/>
            <a:ext cx="1077389" cy="19245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54F5D7FB-B170-7D9C-E2C0-A6789FA4AAF8}"/>
              </a:ext>
            </a:extLst>
          </p:cNvPr>
          <p:cNvSpPr/>
          <p:nvPr/>
        </p:nvSpPr>
        <p:spPr>
          <a:xfrm>
            <a:off x="3132332" y="2864081"/>
            <a:ext cx="120276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Home Page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8376866-88C3-1F77-3043-CC69726E892D}"/>
              </a:ext>
            </a:extLst>
          </p:cNvPr>
          <p:cNvSpPr/>
          <p:nvPr/>
        </p:nvSpPr>
        <p:spPr>
          <a:xfrm>
            <a:off x="3003345" y="4855098"/>
            <a:ext cx="123341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Result 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9268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643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0" y="850106"/>
            <a:ext cx="9144000" cy="14288"/>
          </a:xfrm>
          <a:prstGeom prst="rect">
            <a:avLst/>
          </a:prstGeom>
          <a:solidFill>
            <a:srgbClr val="CCF7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28625" y="285750"/>
            <a:ext cx="2622256" cy="3077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kern="0" spc="1" dirty="0">
                <a:solidFill>
                  <a:srgbClr val="00D9FF"/>
                </a:solidFill>
              </a:rPr>
              <a:t>Key Resources and Tools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28625" y="1064419"/>
            <a:ext cx="4000500" cy="326827"/>
          </a:xfrm>
          <a:prstGeom prst="rect">
            <a:avLst/>
          </a:prstGeom>
          <a:solidFill>
            <a:srgbClr val="00D9FF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428625" y="1064419"/>
            <a:ext cx="28575" cy="326827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28625" y="1064419"/>
            <a:ext cx="4000500" cy="35798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b="1" kern="0" spc="1" dirty="0">
                <a:solidFill>
                  <a:srgbClr val="00D9FF"/>
                </a:solidFill>
              </a:rPr>
              <a:t>📊 Dataset Sources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57213" y="1555552"/>
            <a:ext cx="965008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0D9FF"/>
                </a:solidFill>
              </a:rPr>
              <a:t>Kaggle Database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7213" y="1743695"/>
            <a:ext cx="3871913" cy="615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100" dirty="0">
                <a:solidFill>
                  <a:srgbClr val="E8F4F8">
                    <a:alpha val="80000"/>
                  </a:srgbClr>
                </a:solidFill>
                <a:hlinkClick r:id="rId4"/>
              </a:rPr>
              <a:t>https://www.kaggle.com/datasets/hamdallak/the-iqothnccd-lung-cancer-dataset</a:t>
            </a:r>
            <a:endParaRPr lang="en-US" sz="1100" dirty="0">
              <a:solidFill>
                <a:srgbClr val="E8F4F8">
                  <a:alpha val="80000"/>
                </a:srgbClr>
              </a:solidFill>
            </a:endParaRPr>
          </a:p>
          <a:p>
            <a:pPr>
              <a:lnSpc>
                <a:spcPts val="1200"/>
              </a:lnSpc>
            </a:pPr>
            <a:endParaRPr lang="en-US" sz="1100" dirty="0">
              <a:solidFill>
                <a:srgbClr val="E8F4F8">
                  <a:alpha val="80000"/>
                </a:srgbClr>
              </a:solidFill>
            </a:endParaRPr>
          </a:p>
          <a:p>
            <a:pPr>
              <a:lnSpc>
                <a:spcPts val="1200"/>
              </a:lnSpc>
            </a:pP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14875" y="1064419"/>
            <a:ext cx="4000500" cy="326827"/>
          </a:xfrm>
          <a:prstGeom prst="rect">
            <a:avLst/>
          </a:prstGeom>
          <a:solidFill>
            <a:srgbClr val="FF6B9D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714875" y="1064419"/>
            <a:ext cx="28575" cy="326827"/>
          </a:xfrm>
          <a:prstGeom prst="rect">
            <a:avLst/>
          </a:prstGeom>
          <a:solidFill>
            <a:srgbClr val="FF6B9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714875" y="1064419"/>
            <a:ext cx="4000500" cy="35798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b="1" kern="0" spc="1" dirty="0">
                <a:solidFill>
                  <a:srgbClr val="FF6B9D"/>
                </a:solidFill>
              </a:rPr>
              <a:t>⚙️ Libraries &amp; Frameworks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843463" y="1555552"/>
            <a:ext cx="1061188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0D9FF"/>
                </a:solidFill>
              </a:rPr>
              <a:t>TensorFlow/Keras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43463" y="1736992"/>
            <a:ext cx="3244478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E8F4F8">
                    <a:alpha val="80000"/>
                  </a:srgbClr>
                </a:solidFill>
              </a:rPr>
              <a:t>Deep learning framework for model development and training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43463" y="2092728"/>
            <a:ext cx="963405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D9FF"/>
                </a:solidFill>
              </a:rPr>
              <a:t>NumPy &amp; Pandas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43463" y="2274168"/>
            <a:ext cx="243977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E8F4F8">
                    <a:alpha val="80000"/>
                  </a:srgbClr>
                </a:solidFill>
              </a:rPr>
              <a:t>Data manipulation and numerical computing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43463" y="2620385"/>
            <a:ext cx="657231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0D9FF"/>
                </a:solidFill>
              </a:rPr>
              <a:t>Scikit-learn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43463" y="2811345"/>
            <a:ext cx="2651367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E8F4F8">
                    <a:alpha val="80000"/>
                  </a:srgbClr>
                </a:solidFill>
              </a:rPr>
              <a:t>Evaluation metrics and machine learning utilities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843463" y="3167081"/>
            <a:ext cx="1269578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0D9FF"/>
                </a:solidFill>
              </a:rPr>
              <a:t>Matplotlib &amp; Seaborn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43463" y="3348521"/>
            <a:ext cx="206627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E8F4F8">
                    <a:alpha val="80000"/>
                  </a:srgbClr>
                </a:solidFill>
              </a:rPr>
              <a:t>Data visualization and graph generation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28625" y="3925714"/>
            <a:ext cx="4000500" cy="326827"/>
          </a:xfrm>
          <a:prstGeom prst="rect">
            <a:avLst/>
          </a:prstGeom>
          <a:solidFill>
            <a:srgbClr val="7B68EE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28625" y="3925714"/>
            <a:ext cx="28575" cy="326827"/>
          </a:xfrm>
          <a:prstGeom prst="rect">
            <a:avLst/>
          </a:prstGeom>
          <a:solidFill>
            <a:srgbClr val="7B68E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28625" y="3925714"/>
            <a:ext cx="4000500" cy="35798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b="1" kern="0" spc="1" dirty="0">
                <a:solidFill>
                  <a:srgbClr val="7B68EE"/>
                </a:solidFill>
              </a:rPr>
              <a:t>🌐 Website &amp; Deployment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57213" y="4416847"/>
            <a:ext cx="742191" cy="1667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0D9FF"/>
                </a:solidFill>
              </a:rPr>
              <a:t>Python Flask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57213" y="4598287"/>
            <a:ext cx="3186770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dirty="0">
                <a:solidFill>
                  <a:srgbClr val="E8F4F8">
                    <a:alpha val="80000"/>
                  </a:srgbClr>
                </a:solidFill>
              </a:rPr>
              <a:t>Lightweight web framework for backend API development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57213" y="4954023"/>
            <a:ext cx="1461939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00D9FF"/>
                </a:solidFill>
              </a:rPr>
              <a:t>HTML5 / CSS3 / JavaScript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57213" y="5135463"/>
            <a:ext cx="295754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100" dirty="0">
                <a:solidFill>
                  <a:srgbClr val="E8F4F8">
                    <a:alpha val="80000"/>
                  </a:srgbClr>
                </a:solidFill>
              </a:rPr>
              <a:t>Frontend technologies for responsive user interface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57213" y="5491200"/>
            <a:ext cx="65" cy="1605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57213" y="5672640"/>
            <a:ext cx="65" cy="1382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674" dirty="0"/>
          </a:p>
        </p:txBody>
      </p:sp>
      <p:sp>
        <p:nvSpPr>
          <p:cNvPr id="31" name="Shape 28"/>
          <p:cNvSpPr/>
          <p:nvPr/>
        </p:nvSpPr>
        <p:spPr>
          <a:xfrm>
            <a:off x="4714875" y="3925714"/>
            <a:ext cx="4000500" cy="326827"/>
          </a:xfrm>
          <a:prstGeom prst="rect">
            <a:avLst/>
          </a:prstGeom>
          <a:solidFill>
            <a:srgbClr val="00D9FF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4714875" y="3925714"/>
            <a:ext cx="28575" cy="326827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4714875" y="3925714"/>
            <a:ext cx="4000500" cy="35798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400" b="1" kern="0" spc="1" dirty="0">
                <a:solidFill>
                  <a:srgbClr val="00D9FF"/>
                </a:solidFill>
              </a:rPr>
              <a:t>📚 Research References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843463" y="4416847"/>
            <a:ext cx="2418932" cy="158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D9FF"/>
                </a:solidFill>
              </a:rPr>
              <a:t>Deep Convolutional Neural Networks for CAD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843463" y="4598287"/>
            <a:ext cx="3395160" cy="145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E8F4F8">
                    <a:alpha val="80000"/>
                  </a:srgbClr>
                </a:solidFill>
              </a:rPr>
              <a:t>Foundational research on CNN applications in computer-aided detection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843463" y="4954023"/>
            <a:ext cx="2838919" cy="158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D9FF"/>
                </a:solidFill>
              </a:rPr>
              <a:t>LIDC-IDRI: A Large-Scale Public Lung Nodule Database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843463" y="5135463"/>
            <a:ext cx="4249561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E8F4F8">
                    <a:alpha val="80000"/>
                  </a:srgbClr>
                </a:solidFill>
              </a:rPr>
              <a:t>Dataset reference paper documenting collection methodology and characteristics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843463" y="5491200"/>
            <a:ext cx="2306722" cy="1588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D9FF"/>
                </a:solidFill>
              </a:rPr>
              <a:t>Medical Image Analysis with Deep Learning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843463" y="5672640"/>
            <a:ext cx="3541034" cy="153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E8F4F8">
                    <a:alpha val="80000"/>
                  </a:srgbClr>
                </a:solidFill>
              </a:rPr>
              <a:t>Survey of deep learning techniques for medical imaging applications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879139" y="5955153"/>
            <a:ext cx="283623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i="1" dirty="0">
                <a:solidFill>
                  <a:srgbClr val="00D9FF">
                    <a:alpha val="50000"/>
                  </a:srgbClr>
                </a:solidFill>
              </a:rPr>
              <a:t>Presentation created with TensorFlow, Flask, and modern web technologies</a:t>
            </a:r>
            <a:endParaRPr lang="en-US" sz="62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DF2572-7E7E-C3D9-0087-87D23246E068}"/>
              </a:ext>
            </a:extLst>
          </p:cNvPr>
          <p:cNvSpPr txBox="1"/>
          <p:nvPr/>
        </p:nvSpPr>
        <p:spPr>
          <a:xfrm>
            <a:off x="457200" y="2157485"/>
            <a:ext cx="46282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Dataset/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├ Benign cases/ images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├  Malignant cases/ images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 └── Normal cases/ images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655</Words>
  <Application>Microsoft Office PowerPoint</Application>
  <PresentationFormat>On-screen Show (16:9)</PresentationFormat>
  <Paragraphs>128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Ankit Kumar</cp:lastModifiedBy>
  <cp:revision>3</cp:revision>
  <dcterms:created xsi:type="dcterms:W3CDTF">2025-11-14T06:19:01Z</dcterms:created>
  <dcterms:modified xsi:type="dcterms:W3CDTF">2025-11-14T18:36:51Z</dcterms:modified>
</cp:coreProperties>
</file>